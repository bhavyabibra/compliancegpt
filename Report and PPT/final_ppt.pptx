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914400">
              <a:lnSpc>
                <a:spcPct val="90000"/>
              </a:lnSpc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BB47268-FB86-4C27-889E-4401074ECFC0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1374840" y="1336680"/>
            <a:ext cx="4809600" cy="3607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755640" y="5145120"/>
            <a:ext cx="6048000" cy="420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4"/>
          </p:nvPr>
        </p:nvSpPr>
        <p:spPr>
          <a:xfrm>
            <a:off x="4281480" y="10155240"/>
            <a:ext cx="3276360" cy="536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9D1CFE-A0A6-45DD-BA48-C8D7038AA68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PlaceHolder 4"/>
          <p:cNvSpPr>
            <a:spLocks noGrp="1"/>
          </p:cNvSpPr>
          <p:nvPr>
            <p:ph type="ftr" idx="5"/>
          </p:nvPr>
        </p:nvSpPr>
        <p:spPr>
          <a:xfrm>
            <a:off x="0" y="10155240"/>
            <a:ext cx="3276360" cy="536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Name of the faculty [Group: G00] [Sem:2nd]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jpe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2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jpe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2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jpe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2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jpe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2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jpe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2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jpe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2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jpe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2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jpe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2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jpe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2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jpe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2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jpe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2.jpe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jpe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2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dir="t" rig="threePt"/>
          </a:scene3d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" name="Picture 10" descr="LOGO.gif"/>
          <p:cNvPicPr/>
          <p:nvPr/>
        </p:nvPicPr>
        <p:blipFill>
          <a:blip r:embed="rId2"/>
          <a:srcRect l="0" t="0" r="0" b="10725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5" name="Picture 10" descr="LOGO.gif"/>
          <p:cNvPicPr/>
          <p:nvPr/>
        </p:nvPicPr>
        <p:blipFill>
          <a:blip r:embed="rId3"/>
          <a:srcRect l="0" t="0" r="0" b="10725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6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7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8" name="Picture 9" descr="LOGO.gif"/>
            <p:cNvPicPr/>
            <p:nvPr/>
          </p:nvPicPr>
          <p:blipFill>
            <a:blip r:embed="rId4"/>
            <a:srcRect l="0" t="0" r="0" b="10725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9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0" name="Picture 15" descr="logo.jpg"/>
          <p:cNvPicPr/>
          <p:nvPr/>
        </p:nvPicPr>
        <p:blipFill>
          <a:blip r:embed="rId5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1" name="Picture 10" descr="LOGO.gif"/>
          <p:cNvPicPr/>
          <p:nvPr/>
        </p:nvPicPr>
        <p:blipFill>
          <a:blip r:embed="rId6"/>
          <a:srcRect l="0" t="0" r="0" b="10725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2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3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4" name="Picture 9" descr="LOGO.gif"/>
            <p:cNvPicPr/>
            <p:nvPr/>
          </p:nvPicPr>
          <p:blipFill>
            <a:blip r:embed="rId7"/>
            <a:srcRect l="0" t="0" r="0" b="10725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5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6" name="Picture 15" descr="logo.jpg"/>
          <p:cNvPicPr/>
          <p:nvPr/>
        </p:nvPicPr>
        <p:blipFill>
          <a:blip r:embed="rId8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dir="t" rig="threePt"/>
          </a:scene3d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" name="Picture 10" descr="LOGO.gif"/>
          <p:cNvPicPr/>
          <p:nvPr/>
        </p:nvPicPr>
        <p:blipFill>
          <a:blip r:embed="rId2"/>
          <a:srcRect l="0" t="0" r="0" b="10725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22" name="Picture 10" descr="LOGO.gif"/>
          <p:cNvPicPr/>
          <p:nvPr/>
        </p:nvPicPr>
        <p:blipFill>
          <a:blip r:embed="rId3"/>
          <a:srcRect l="0" t="0" r="0" b="10725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23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24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5" name="Picture 9" descr="LOGO.gif"/>
            <p:cNvPicPr/>
            <p:nvPr/>
          </p:nvPicPr>
          <p:blipFill>
            <a:blip r:embed="rId4"/>
            <a:srcRect l="0" t="0" r="0" b="10725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26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7" name="Picture 15" descr="logo.jpg"/>
          <p:cNvPicPr/>
          <p:nvPr/>
        </p:nvPicPr>
        <p:blipFill>
          <a:blip r:embed="rId5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28" name="Picture 10" descr="LOGO.gif"/>
          <p:cNvPicPr/>
          <p:nvPr/>
        </p:nvPicPr>
        <p:blipFill>
          <a:blip r:embed="rId6"/>
          <a:srcRect l="0" t="0" r="0" b="10725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29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30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1" name="Picture 9" descr="LOGO.gif"/>
            <p:cNvPicPr/>
            <p:nvPr/>
          </p:nvPicPr>
          <p:blipFill>
            <a:blip r:embed="rId7"/>
            <a:srcRect l="0" t="0" r="0" b="10725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32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33" name="Picture 15" descr="logo.jpg"/>
          <p:cNvPicPr/>
          <p:nvPr/>
        </p:nvPicPr>
        <p:blipFill>
          <a:blip r:embed="rId8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0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88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0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dir="t" rig="threePt"/>
          </a:scene3d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" name="Picture 10" descr="LOGO.gif"/>
          <p:cNvPicPr/>
          <p:nvPr/>
        </p:nvPicPr>
        <p:blipFill>
          <a:blip r:embed="rId2"/>
          <a:srcRect l="0" t="0" r="0" b="10725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40" name="Picture 10" descr="LOGO.gif"/>
          <p:cNvPicPr/>
          <p:nvPr/>
        </p:nvPicPr>
        <p:blipFill>
          <a:blip r:embed="rId3"/>
          <a:srcRect l="0" t="0" r="0" b="10725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41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42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43" name="Picture 9" descr="LOGO.gif"/>
            <p:cNvPicPr/>
            <p:nvPr/>
          </p:nvPicPr>
          <p:blipFill>
            <a:blip r:embed="rId4"/>
            <a:srcRect l="0" t="0" r="0" b="10725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44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45" name="Picture 15" descr="logo.jpg"/>
          <p:cNvPicPr/>
          <p:nvPr/>
        </p:nvPicPr>
        <p:blipFill>
          <a:blip r:embed="rId5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46" name="Picture 10" descr="LOGO.gif"/>
          <p:cNvPicPr/>
          <p:nvPr/>
        </p:nvPicPr>
        <p:blipFill>
          <a:blip r:embed="rId6"/>
          <a:srcRect l="0" t="0" r="0" b="10725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47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48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49" name="Picture 9" descr="LOGO.gif"/>
            <p:cNvPicPr/>
            <p:nvPr/>
          </p:nvPicPr>
          <p:blipFill>
            <a:blip r:embed="rId7"/>
            <a:srcRect l="0" t="0" r="0" b="10725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50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51" name="Picture 15" descr="logo.jpg"/>
          <p:cNvPicPr/>
          <p:nvPr/>
        </p:nvPicPr>
        <p:blipFill>
          <a:blip r:embed="rId8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dir="t" rig="threePt"/>
          </a:scene3d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9" name="Picture 10" descr="LOGO.gif"/>
          <p:cNvPicPr/>
          <p:nvPr/>
        </p:nvPicPr>
        <p:blipFill>
          <a:blip r:embed="rId2"/>
          <a:srcRect l="0" t="0" r="0" b="10725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60" name="Picture 10" descr="LOGO.gif"/>
          <p:cNvPicPr/>
          <p:nvPr/>
        </p:nvPicPr>
        <p:blipFill>
          <a:blip r:embed="rId3"/>
          <a:srcRect l="0" t="0" r="0" b="10725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61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62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3" name="Picture 9" descr="LOGO.gif"/>
            <p:cNvPicPr/>
            <p:nvPr/>
          </p:nvPicPr>
          <p:blipFill>
            <a:blip r:embed="rId4"/>
            <a:srcRect l="0" t="0" r="0" b="10725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64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65" name="Picture 15" descr="logo.jpg"/>
          <p:cNvPicPr/>
          <p:nvPr/>
        </p:nvPicPr>
        <p:blipFill>
          <a:blip r:embed="rId5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66" name="Picture 10" descr="LOGO.gif"/>
          <p:cNvPicPr/>
          <p:nvPr/>
        </p:nvPicPr>
        <p:blipFill>
          <a:blip r:embed="rId6"/>
          <a:srcRect l="0" t="0" r="0" b="10725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67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68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9" name="Picture 9" descr="LOGO.gif"/>
            <p:cNvPicPr/>
            <p:nvPr/>
          </p:nvPicPr>
          <p:blipFill>
            <a:blip r:embed="rId7"/>
            <a:srcRect l="0" t="0" r="0" b="10725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70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71" name="Picture 15" descr="logo.jpg"/>
          <p:cNvPicPr/>
          <p:nvPr/>
        </p:nvPicPr>
        <p:blipFill>
          <a:blip r:embed="rId8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dir="t" rig="threePt"/>
          </a:scene3d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1" name="Picture 10" descr="LOGO.gif"/>
          <p:cNvPicPr/>
          <p:nvPr/>
        </p:nvPicPr>
        <p:blipFill>
          <a:blip r:embed="rId2"/>
          <a:srcRect l="0" t="0" r="0" b="10725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82" name="Picture 10" descr="LOGO.gif"/>
          <p:cNvPicPr/>
          <p:nvPr/>
        </p:nvPicPr>
        <p:blipFill>
          <a:blip r:embed="rId3"/>
          <a:srcRect l="0" t="0" r="0" b="10725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83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84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85" name="Picture 9" descr="LOGO.gif"/>
            <p:cNvPicPr/>
            <p:nvPr/>
          </p:nvPicPr>
          <p:blipFill>
            <a:blip r:embed="rId4"/>
            <a:srcRect l="0" t="0" r="0" b="10725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86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87" name="Picture 15" descr="logo.jpg"/>
          <p:cNvPicPr/>
          <p:nvPr/>
        </p:nvPicPr>
        <p:blipFill>
          <a:blip r:embed="rId5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88" name="Picture 10" descr="LOGO.gif"/>
          <p:cNvPicPr/>
          <p:nvPr/>
        </p:nvPicPr>
        <p:blipFill>
          <a:blip r:embed="rId6"/>
          <a:srcRect l="0" t="0" r="0" b="10725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89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90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91" name="Picture 9" descr="LOGO.gif"/>
            <p:cNvPicPr/>
            <p:nvPr/>
          </p:nvPicPr>
          <p:blipFill>
            <a:blip r:embed="rId7"/>
            <a:srcRect l="0" t="0" r="0" b="10725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92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93" name="Picture 15" descr="logo.jpg"/>
          <p:cNvPicPr/>
          <p:nvPr/>
        </p:nvPicPr>
        <p:blipFill>
          <a:blip r:embed="rId8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dir="t" rig="threePt"/>
          </a:scene3d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8" name="Picture 10" descr="LOGO.gif"/>
          <p:cNvPicPr/>
          <p:nvPr/>
        </p:nvPicPr>
        <p:blipFill>
          <a:blip r:embed="rId2"/>
          <a:srcRect l="0" t="0" r="0" b="10725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99" name="Picture 10" descr="LOGO.gif"/>
          <p:cNvPicPr/>
          <p:nvPr/>
        </p:nvPicPr>
        <p:blipFill>
          <a:blip r:embed="rId3"/>
          <a:srcRect l="0" t="0" r="0" b="10725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00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01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02" name="Picture 9" descr="LOGO.gif"/>
            <p:cNvPicPr/>
            <p:nvPr/>
          </p:nvPicPr>
          <p:blipFill>
            <a:blip r:embed="rId4"/>
            <a:srcRect l="0" t="0" r="0" b="10725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03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04" name="Picture 15" descr="logo.jpg"/>
          <p:cNvPicPr/>
          <p:nvPr/>
        </p:nvPicPr>
        <p:blipFill>
          <a:blip r:embed="rId5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05" name="Picture 10" descr="LOGO.gif"/>
          <p:cNvPicPr/>
          <p:nvPr/>
        </p:nvPicPr>
        <p:blipFill>
          <a:blip r:embed="rId6"/>
          <a:srcRect l="0" t="0" r="0" b="10725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06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07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08" name="Picture 9" descr="LOGO.gif"/>
            <p:cNvPicPr/>
            <p:nvPr/>
          </p:nvPicPr>
          <p:blipFill>
            <a:blip r:embed="rId7"/>
            <a:srcRect l="0" t="0" r="0" b="10725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09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10" name="Picture 15" descr="logo.jpg"/>
          <p:cNvPicPr/>
          <p:nvPr/>
        </p:nvPicPr>
        <p:blipFill>
          <a:blip r:embed="rId8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dir="t" rig="threePt"/>
          </a:scene3d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5" name="Picture 10" descr="LOGO.gif"/>
          <p:cNvPicPr/>
          <p:nvPr/>
        </p:nvPicPr>
        <p:blipFill>
          <a:blip r:embed="rId2"/>
          <a:srcRect l="0" t="0" r="0" b="10725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16" name="Picture 10" descr="LOGO.gif"/>
          <p:cNvPicPr/>
          <p:nvPr/>
        </p:nvPicPr>
        <p:blipFill>
          <a:blip r:embed="rId3"/>
          <a:srcRect l="0" t="0" r="0" b="10725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17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18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19" name="Picture 9" descr="LOGO.gif"/>
            <p:cNvPicPr/>
            <p:nvPr/>
          </p:nvPicPr>
          <p:blipFill>
            <a:blip r:embed="rId4"/>
            <a:srcRect l="0" t="0" r="0" b="10725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20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21" name="Picture 15" descr="logo.jpg"/>
          <p:cNvPicPr/>
          <p:nvPr/>
        </p:nvPicPr>
        <p:blipFill>
          <a:blip r:embed="rId5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22" name="Picture 10" descr="LOGO.gif"/>
          <p:cNvPicPr/>
          <p:nvPr/>
        </p:nvPicPr>
        <p:blipFill>
          <a:blip r:embed="rId6"/>
          <a:srcRect l="0" t="0" r="0" b="10725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23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24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25" name="Picture 9" descr="LOGO.gif"/>
            <p:cNvPicPr/>
            <p:nvPr/>
          </p:nvPicPr>
          <p:blipFill>
            <a:blip r:embed="rId7"/>
            <a:srcRect l="0" t="0" r="0" b="10725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26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27" name="Picture 15" descr="logo.jpg"/>
          <p:cNvPicPr/>
          <p:nvPr/>
        </p:nvPicPr>
        <p:blipFill>
          <a:blip r:embed="rId8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dir="t" rig="threePt"/>
          </a:scene3d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3" name="Picture 10" descr="LOGO.gif"/>
          <p:cNvPicPr/>
          <p:nvPr/>
        </p:nvPicPr>
        <p:blipFill>
          <a:blip r:embed="rId2"/>
          <a:srcRect l="0" t="0" r="0" b="10725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34" name="Picture 10" descr="LOGO.gif"/>
          <p:cNvPicPr/>
          <p:nvPr/>
        </p:nvPicPr>
        <p:blipFill>
          <a:blip r:embed="rId3"/>
          <a:srcRect l="0" t="0" r="0" b="10725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35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36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37" name="Picture 9" descr="LOGO.gif"/>
            <p:cNvPicPr/>
            <p:nvPr/>
          </p:nvPicPr>
          <p:blipFill>
            <a:blip r:embed="rId4"/>
            <a:srcRect l="0" t="0" r="0" b="10725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38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39" name="Picture 15" descr="logo.jpg"/>
          <p:cNvPicPr/>
          <p:nvPr/>
        </p:nvPicPr>
        <p:blipFill>
          <a:blip r:embed="rId5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40" name="Picture 10" descr="LOGO.gif"/>
          <p:cNvPicPr/>
          <p:nvPr/>
        </p:nvPicPr>
        <p:blipFill>
          <a:blip r:embed="rId6"/>
          <a:srcRect l="0" t="0" r="0" b="10725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41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42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43" name="Picture 9" descr="LOGO.gif"/>
            <p:cNvPicPr/>
            <p:nvPr/>
          </p:nvPicPr>
          <p:blipFill>
            <a:blip r:embed="rId7"/>
            <a:srcRect l="0" t="0" r="0" b="10725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44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45" name="Picture 15" descr="logo.jpg"/>
          <p:cNvPicPr/>
          <p:nvPr/>
        </p:nvPicPr>
        <p:blipFill>
          <a:blip r:embed="rId8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dir="t" rig="threePt"/>
          </a:scene3d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0" name="Picture 10" descr="LOGO.gif"/>
          <p:cNvPicPr/>
          <p:nvPr/>
        </p:nvPicPr>
        <p:blipFill>
          <a:blip r:embed="rId2"/>
          <a:srcRect l="0" t="0" r="0" b="10725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51" name="Picture 10" descr="LOGO.gif"/>
          <p:cNvPicPr/>
          <p:nvPr/>
        </p:nvPicPr>
        <p:blipFill>
          <a:blip r:embed="rId3"/>
          <a:srcRect l="0" t="0" r="0" b="10725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52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53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54" name="Picture 9" descr="LOGO.gif"/>
            <p:cNvPicPr/>
            <p:nvPr/>
          </p:nvPicPr>
          <p:blipFill>
            <a:blip r:embed="rId4"/>
            <a:srcRect l="0" t="0" r="0" b="10725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55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56" name="Picture 15" descr="logo.jpg"/>
          <p:cNvPicPr/>
          <p:nvPr/>
        </p:nvPicPr>
        <p:blipFill>
          <a:blip r:embed="rId5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57" name="Picture 10" descr="LOGO.gif"/>
          <p:cNvPicPr/>
          <p:nvPr/>
        </p:nvPicPr>
        <p:blipFill>
          <a:blip r:embed="rId6"/>
          <a:srcRect l="0" t="0" r="0" b="10725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58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59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60" name="Picture 9" descr="LOGO.gif"/>
            <p:cNvPicPr/>
            <p:nvPr/>
          </p:nvPicPr>
          <p:blipFill>
            <a:blip r:embed="rId7"/>
            <a:srcRect l="0" t="0" r="0" b="10725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61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62" name="Picture 15" descr="logo.jpg"/>
          <p:cNvPicPr/>
          <p:nvPr/>
        </p:nvPicPr>
        <p:blipFill>
          <a:blip r:embed="rId8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dir="t" rig="threePt"/>
          </a:scene3d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5" name="Picture 10" descr="LOGO.gif"/>
          <p:cNvPicPr/>
          <p:nvPr/>
        </p:nvPicPr>
        <p:blipFill>
          <a:blip r:embed="rId2"/>
          <a:srcRect l="0" t="0" r="0" b="10725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66" name="Picture 10" descr="LOGO.gif"/>
          <p:cNvPicPr/>
          <p:nvPr/>
        </p:nvPicPr>
        <p:blipFill>
          <a:blip r:embed="rId3"/>
          <a:srcRect l="0" t="0" r="0" b="10725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67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68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69" name="Picture 9" descr="LOGO.gif"/>
            <p:cNvPicPr/>
            <p:nvPr/>
          </p:nvPicPr>
          <p:blipFill>
            <a:blip r:embed="rId4"/>
            <a:srcRect l="0" t="0" r="0" b="10725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70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71" name="Picture 15" descr="logo.jpg"/>
          <p:cNvPicPr/>
          <p:nvPr/>
        </p:nvPicPr>
        <p:blipFill>
          <a:blip r:embed="rId5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72" name="Picture 10" descr="LOGO.gif"/>
          <p:cNvPicPr/>
          <p:nvPr/>
        </p:nvPicPr>
        <p:blipFill>
          <a:blip r:embed="rId6"/>
          <a:srcRect l="0" t="0" r="0" b="10725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73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74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75" name="Picture 9" descr="LOGO.gif"/>
            <p:cNvPicPr/>
            <p:nvPr/>
          </p:nvPicPr>
          <p:blipFill>
            <a:blip r:embed="rId7"/>
            <a:srcRect l="0" t="0" r="0" b="10725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76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77" name="Picture 15" descr="logo.jpg"/>
          <p:cNvPicPr/>
          <p:nvPr/>
        </p:nvPicPr>
        <p:blipFill>
          <a:blip r:embed="rId8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dir="t" rig="threePt"/>
          </a:scene3d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4" name="Picture 10" descr="LOGO.gif"/>
          <p:cNvPicPr/>
          <p:nvPr/>
        </p:nvPicPr>
        <p:blipFill>
          <a:blip r:embed="rId2"/>
          <a:srcRect l="0" t="0" r="0" b="10725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85" name="Picture 10" descr="LOGO.gif"/>
          <p:cNvPicPr/>
          <p:nvPr/>
        </p:nvPicPr>
        <p:blipFill>
          <a:blip r:embed="rId3"/>
          <a:srcRect l="0" t="0" r="0" b="10725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86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87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88" name="Picture 9" descr="LOGO.gif"/>
            <p:cNvPicPr/>
            <p:nvPr/>
          </p:nvPicPr>
          <p:blipFill>
            <a:blip r:embed="rId4"/>
            <a:srcRect l="0" t="0" r="0" b="10725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89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90" name="Picture 15" descr="logo.jpg"/>
          <p:cNvPicPr/>
          <p:nvPr/>
        </p:nvPicPr>
        <p:blipFill>
          <a:blip r:embed="rId5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91" name="Picture 10" descr="LOGO.gif"/>
          <p:cNvPicPr/>
          <p:nvPr/>
        </p:nvPicPr>
        <p:blipFill>
          <a:blip r:embed="rId6"/>
          <a:srcRect l="0" t="0" r="0" b="10725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92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193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94" name="Picture 9" descr="LOGO.gif"/>
            <p:cNvPicPr/>
            <p:nvPr/>
          </p:nvPicPr>
          <p:blipFill>
            <a:blip r:embed="rId7"/>
            <a:srcRect l="0" t="0" r="0" b="10725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95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96" name="Picture 15" descr="logo.jpg"/>
          <p:cNvPicPr/>
          <p:nvPr/>
        </p:nvPicPr>
        <p:blipFill>
          <a:blip r:embed="rId8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CustomShape 1"/>
          <p:cNvSpPr/>
          <p:nvPr/>
        </p:nvSpPr>
        <p:spPr>
          <a:xfrm>
            <a:off x="0" y="0"/>
            <a:ext cx="9143280" cy="83736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CustomShape 2"/>
          <p:cNvSpPr/>
          <p:nvPr/>
        </p:nvSpPr>
        <p:spPr>
          <a:xfrm flipV="1">
            <a:off x="0" y="6704640"/>
            <a:ext cx="9143280" cy="19728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dir="t" rig="threePt"/>
          </a:scene3d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3" name="Picture 10" descr="LOGO.gif"/>
          <p:cNvPicPr/>
          <p:nvPr/>
        </p:nvPicPr>
        <p:blipFill>
          <a:blip r:embed="rId2"/>
          <a:srcRect l="0" t="0" r="0" b="10725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204" name="Picture 10" descr="LOGO.gif"/>
          <p:cNvPicPr/>
          <p:nvPr/>
        </p:nvPicPr>
        <p:blipFill>
          <a:blip r:embed="rId3"/>
          <a:srcRect l="0" t="0" r="0" b="10725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205" name="Group 3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206" name="CustomShape 4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07" name="Picture 9" descr="LOGO.gif"/>
            <p:cNvPicPr/>
            <p:nvPr/>
          </p:nvPicPr>
          <p:blipFill>
            <a:blip r:embed="rId4"/>
            <a:srcRect l="0" t="0" r="0" b="10725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208" name="CustomShape 5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09" name="Picture 15" descr="logo.jpg"/>
          <p:cNvPicPr/>
          <p:nvPr/>
        </p:nvPicPr>
        <p:blipFill>
          <a:blip r:embed="rId5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210" name="Picture 10" descr="LOGO.gif"/>
          <p:cNvPicPr/>
          <p:nvPr/>
        </p:nvPicPr>
        <p:blipFill>
          <a:blip r:embed="rId6"/>
          <a:srcRect l="0" t="0" r="0" b="10725"/>
          <a:stretch/>
        </p:blipFill>
        <p:spPr>
          <a:xfrm>
            <a:off x="6553080" y="228600"/>
            <a:ext cx="2056680" cy="63432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211" name="Group 6"/>
          <p:cNvGrpSpPr/>
          <p:nvPr/>
        </p:nvGrpSpPr>
        <p:grpSpPr>
          <a:xfrm>
            <a:off x="6146640" y="0"/>
            <a:ext cx="2996640" cy="875520"/>
            <a:chOff x="6146640" y="0"/>
            <a:chExt cx="2996640" cy="875520"/>
          </a:xfrm>
        </p:grpSpPr>
        <p:sp>
          <p:nvSpPr>
            <p:cNvPr id="212" name="CustomShape 7"/>
            <p:cNvSpPr/>
            <p:nvPr/>
          </p:nvSpPr>
          <p:spPr>
            <a:xfrm>
              <a:off x="6146640" y="0"/>
              <a:ext cx="2996640" cy="83736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13" name="Picture 9" descr="LOGO.gif"/>
            <p:cNvPicPr/>
            <p:nvPr/>
          </p:nvPicPr>
          <p:blipFill>
            <a:blip r:embed="rId7"/>
            <a:srcRect l="0" t="0" r="0" b="10725"/>
            <a:stretch/>
          </p:blipFill>
          <p:spPr>
            <a:xfrm>
              <a:off x="6553080" y="228600"/>
              <a:ext cx="2056680" cy="63432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214" name="CustomShape 8"/>
            <p:cNvSpPr/>
            <p:nvPr/>
          </p:nvSpPr>
          <p:spPr>
            <a:xfrm>
              <a:off x="6527880" y="190440"/>
              <a:ext cx="2075760" cy="685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15" name="Picture 15" descr="logo.jpg"/>
          <p:cNvPicPr/>
          <p:nvPr/>
        </p:nvPicPr>
        <p:blipFill>
          <a:blip r:embed="rId8"/>
          <a:stretch/>
        </p:blipFill>
        <p:spPr>
          <a:xfrm>
            <a:off x="6553080" y="228600"/>
            <a:ext cx="1920240" cy="60876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88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0000" lnSpcReduction="19999"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hyperlink" Target="https://developers.google.com/search/docs/fundamentals/seo-starter-guide" TargetMode="External"/><Relationship Id="rId2" Type="http://schemas.openxmlformats.org/officeDocument/2006/relationships/slideLayout" Target="../slideLayouts/slideLayout8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Shape 1"/>
          <p:cNvSpPr/>
          <p:nvPr/>
        </p:nvSpPr>
        <p:spPr>
          <a:xfrm>
            <a:off x="-68760" y="786600"/>
            <a:ext cx="9143640" cy="59284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Project Presentation of CO-OP Project at Industry (Module-2) (22CS421)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On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ComplianceGPT - Security Compliance Copilot RAG Agent </a:t>
            </a:r>
            <a:endParaRPr lang="en-IN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	</a:t>
            </a: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	</a:t>
            </a: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	</a:t>
            </a: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	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S PGothic"/>
              </a:rPr>
              <a:t>Bhavya Bibra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S PGothic"/>
              </a:rPr>
              <a:t>2210991441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S PGothic"/>
              </a:rPr>
              <a:t>Khyanshu Garg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S PGothic"/>
              </a:rPr>
              <a:t>2210991058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S PGothic"/>
              </a:rPr>
              <a:t>Ayush Pratap Singh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S PGothic"/>
              </a:rPr>
              <a:t>2210991427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41"/>
              </a:spcBef>
            </a:pP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extShape 1"/>
          <p:cNvSpPr/>
          <p:nvPr/>
        </p:nvSpPr>
        <p:spPr>
          <a:xfrm>
            <a:off x="457200" y="0"/>
            <a:ext cx="6019200" cy="83736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" sz="3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Introduction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Shape 3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</a:pPr>
            <a:fld id="{610C3C9C-CD14-437F-988F-07DD53D68A0F}" type="slidenum"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S PGothic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Shape 2"/>
          <p:cNvSpPr/>
          <p:nvPr/>
        </p:nvSpPr>
        <p:spPr>
          <a:xfrm>
            <a:off x="164160" y="1109880"/>
            <a:ext cx="8838360" cy="52462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spcBef>
                <a:spcPts val="400"/>
              </a:spcBef>
            </a:pP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The Vision: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Build an AI-powered platform enabling security professionals to query cybersecurity frameworks, preform automated control mapping, and generate compliance reports with strict citation accuracy.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The Mission: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 Create an intelligent RAG system combining vector databases, and LLMs to provide semantic framework understanding with hallucination prevention.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Digital Presence: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Transform cybersecurity compliance from manual time-intensive workflows into automated, intelligent processes while maintaining enterprise-grade accuracy.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IN" sz="35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Problem Statement</a:t>
            </a:r>
            <a:endParaRPr lang="en-US" sz="3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Shape 2"/>
          <p:cNvSpPr/>
          <p:nvPr/>
        </p:nvSpPr>
        <p:spPr>
          <a:xfrm>
            <a:off x="152640" y="1552320"/>
            <a:ext cx="8838360" cy="42386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Manual Cross-Referencing: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Security teams spend 60-70% of time manually researching framework documents and mapping controls across standards.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Knowledge Gaps: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Staff turnover creates expertise loss. Organizations struggle with framework updates and continuous compliance monitoring.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Tool Limitations: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Traditional GRC tools lack semantic understanding generic AI chatbots produce unreliable hallucinations unsuitable for audits.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IN" sz="35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Project Scope</a:t>
            </a:r>
            <a:endParaRPr lang="en-US" sz="3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Shape 2"/>
          <p:cNvSpPr/>
          <p:nvPr/>
        </p:nvSpPr>
        <p:spPr>
          <a:xfrm>
            <a:off x="164160" y="1109880"/>
            <a:ext cx="8838360" cy="48380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Target Audience: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Enterprises (compliance teams, security engineers, auditors)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Platform Design Approach: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Structured, user-friendly interface inspired by e-commerce workflows.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Validation Loop: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Generated AI-generated compliance outputs undergo validation checkpoints .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Reach: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Have used metadata for Search Engine Optimization (SEO) and Improves accessibility of compliance knowledge.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0" y="-432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IN" sz="35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Methodology</a:t>
            </a:r>
            <a:endParaRPr lang="en-US" sz="3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Shape 2"/>
          <p:cNvSpPr/>
          <p:nvPr/>
        </p:nvSpPr>
        <p:spPr>
          <a:xfrm>
            <a:off x="164160" y="1109880"/>
            <a:ext cx="8838360" cy="48380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Full-Stack Integration: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React-based frontend with FastAPI backend services.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User-Focused Design: 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Chat-based UI with evidence panel for transparency and framework select support.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Scalable Data &amp; Auth Layer: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Supabase for database, authentication, and RLS policies.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IN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Simplified Communication:</a:t>
            </a:r>
            <a:r>
              <a:rPr lang="en-IN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Centralized query orchestration via Query Service.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IN" sz="35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Tools &amp; Techniques</a:t>
            </a:r>
            <a:endParaRPr lang="en-US" sz="3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Shape 2"/>
          <p:cNvSpPr/>
          <p:nvPr/>
        </p:nvSpPr>
        <p:spPr>
          <a:xfrm>
            <a:off x="152640" y="914040"/>
            <a:ext cx="8838360" cy="493596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spcBef>
                <a:spcPts val="400"/>
              </a:spcBef>
            </a:pP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Main Framework: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FastAPI (Backend): High-performance API layer for RAG orchestration 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React (Frontend): Interactive chat UI with real-time streaming support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UI Libraries: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Modern UI libraries for abstraction and great and well defined and used components.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LLM &amp; Inference: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Groq: 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Low-latency inference for real-time responses.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OpenRouter (Fallback): 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Ensures high availability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Jina Embeddings API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: High-quality semantic embeddings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IN" sz="40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Working Snapshots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39" name="Picture 6"/>
          <p:cNvPicPr/>
          <p:nvPr/>
        </p:nvPicPr>
        <p:blipFill>
          <a:blip r:embed="rId1"/>
          <a:stretch/>
        </p:blipFill>
        <p:spPr>
          <a:xfrm>
            <a:off x="231120" y="1453320"/>
            <a:ext cx="8681760" cy="4270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Picture 2"/>
          <p:cNvPicPr/>
          <p:nvPr/>
        </p:nvPicPr>
        <p:blipFill>
          <a:blip r:embed="rId1"/>
          <a:stretch/>
        </p:blipFill>
        <p:spPr>
          <a:xfrm>
            <a:off x="362880" y="1347480"/>
            <a:ext cx="8417520" cy="4162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Picture 3"/>
          <p:cNvPicPr/>
          <p:nvPr/>
        </p:nvPicPr>
        <p:blipFill>
          <a:blip r:embed="rId1"/>
          <a:stretch/>
        </p:blipFill>
        <p:spPr>
          <a:xfrm>
            <a:off x="398160" y="1435680"/>
            <a:ext cx="8347680" cy="4123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Picture 3"/>
          <p:cNvPicPr/>
          <p:nvPr/>
        </p:nvPicPr>
        <p:blipFill>
          <a:blip r:embed="rId1"/>
          <a:stretch/>
        </p:blipFill>
        <p:spPr>
          <a:xfrm>
            <a:off x="340560" y="1340640"/>
            <a:ext cx="8462880" cy="417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Picture 5"/>
          <p:cNvPicPr/>
          <p:nvPr/>
        </p:nvPicPr>
        <p:blipFill>
          <a:blip r:embed="rId1"/>
          <a:stretch/>
        </p:blipFill>
        <p:spPr>
          <a:xfrm>
            <a:off x="186120" y="1536120"/>
            <a:ext cx="8625240" cy="4260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IN" sz="35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Expected Outcomes &amp; Benefits</a:t>
            </a:r>
            <a:endParaRPr lang="en-US" sz="3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Shape 2"/>
          <p:cNvSpPr/>
          <p:nvPr/>
        </p:nvSpPr>
        <p:spPr>
          <a:xfrm>
            <a:off x="164160" y="1109880"/>
            <a:ext cx="8838360" cy="48380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Accelerated Compliance Workflows: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Reduces time to answer compliance queries and speeds up audit preparation.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Cross-Framework Visibility: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Provides unified mapping across multiple security frameworks in one place..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Transparency: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Delivers evidence-backed responses with clear citations from source frameworks..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Scalable &amp; Cost-Effective: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Minimizes manual effort and reduces dependency on large compliance teams..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568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IN" sz="35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Referencs</a:t>
            </a:r>
            <a:endParaRPr lang="en-US" sz="3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Shape 2"/>
          <p:cNvSpPr/>
          <p:nvPr/>
        </p:nvSpPr>
        <p:spPr>
          <a:xfrm>
            <a:off x="164160" y="1109880"/>
            <a:ext cx="8838360" cy="48380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Shape 2"/>
          <p:cNvSpPr/>
          <p:nvPr/>
        </p:nvSpPr>
        <p:spPr>
          <a:xfrm>
            <a:off x="316440" y="1262160"/>
            <a:ext cx="8838360" cy="483804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spcBef>
                <a:spcPts val="400"/>
              </a:spcBef>
            </a:pP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Below are the list of references used: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400"/>
              </a:spcBef>
              <a:buClr>
                <a:srgbClr val="2E6CB8"/>
              </a:buClr>
              <a:buFont typeface="Arial"/>
              <a:buChar char="•"/>
            </a:pPr>
            <a:r>
              <a:rPr lang="en-US" sz="2200" b="0" u="none" strike="noStrike">
                <a:solidFill>
                  <a:srgbClr val="2E6CB8"/>
                </a:solidFill>
                <a:effectLst/>
                <a:uFillTx/>
                <a:latin typeface="Times New Roman"/>
                <a:ea typeface="DejaVu Sans"/>
              </a:rPr>
              <a:t>https://react.dev/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400"/>
              </a:spcBef>
              <a:buClr>
                <a:srgbClr val="2E6CB8"/>
              </a:buClr>
              <a:buFont typeface="Arial"/>
              <a:buChar char="•"/>
            </a:pPr>
            <a:r>
              <a:rPr lang="en-US" sz="2200" b="0" u="sng" strike="noStrike">
                <a:solidFill>
                  <a:srgbClr val="2E6CB8"/>
                </a:solidFill>
                <a:effectLst/>
                <a:uFillTx/>
                <a:latin typeface="Times New Roman"/>
                <a:ea typeface="DejaVu Sans"/>
                <a:hlinkClick r:id="rId1"/>
              </a:rPr>
              <a:t>https://developers.google.com/search/docs/fundamentals/seo-starter-guide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400"/>
              </a:spcBef>
              <a:buClr>
                <a:srgbClr val="2E6CB8"/>
              </a:buClr>
              <a:buFont typeface="Arial"/>
              <a:buChar char="•"/>
            </a:pPr>
            <a:r>
              <a:rPr lang="en-US" sz="2200" b="0" u="none" strike="noStrike">
                <a:solidFill>
                  <a:srgbClr val="2E6CB8"/>
                </a:solidFill>
                <a:effectLst/>
                <a:uFillTx/>
                <a:latin typeface="Times New Roman"/>
                <a:ea typeface="DejaVu Sans"/>
              </a:rPr>
              <a:t>https://fastapi.tiangolo.com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400"/>
              </a:spcBef>
              <a:buClr>
                <a:srgbClr val="2E6CB8"/>
              </a:buClr>
              <a:buFont typeface="Arial"/>
              <a:buChar char="•"/>
            </a:pPr>
            <a:r>
              <a:rPr lang="en-US" sz="2200" b="0" u="none" strike="noStrike">
                <a:solidFill>
                  <a:srgbClr val="2E6CB8"/>
                </a:solidFill>
                <a:effectLst/>
                <a:uFillTx/>
                <a:latin typeface="Times New Roman"/>
                <a:ea typeface="DejaVu Sans"/>
              </a:rPr>
              <a:t>https://www.nist.gov/cyberframework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400"/>
              </a:spcBef>
              <a:buClr>
                <a:srgbClr val="2E6CB8"/>
              </a:buClr>
              <a:buFont typeface="Arial"/>
              <a:buChar char="•"/>
            </a:pPr>
            <a:r>
              <a:rPr lang="en-US" sz="2200" b="0" u="none" strike="noStrike">
                <a:solidFill>
                  <a:srgbClr val="2E6CB8"/>
                </a:solidFill>
                <a:effectLst/>
                <a:uFillTx/>
                <a:latin typeface="Times New Roman"/>
                <a:ea typeface="DejaVu Sans"/>
              </a:rPr>
              <a:t>https://openrouter.ai/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TextShape 1"/>
          <p:cNvSpPr/>
          <p:nvPr/>
        </p:nvSpPr>
        <p:spPr>
          <a:xfrm>
            <a:off x="1297440" y="2821680"/>
            <a:ext cx="6705360" cy="14104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" sz="54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Thank You</a:t>
            </a:r>
            <a:endParaRPr lang="en-IN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Shape 3"/>
          <p:cNvSpPr/>
          <p:nvPr/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</a:pPr>
            <a:fld id="{0A99787C-959C-486B-9F0B-C53D73B7E1D1}" type="slidenum"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MS PGothic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34816</TotalTime>
  <Application>LibreOffice/26.2.3.2$MacOSX_AARCH64 LibreOffice_project/70e089b17412e4cb7773e41413306b17a2328c34</Application>
  <AppVersion>15.0000</AppVersion>
  <Words>480</Words>
  <Paragraphs>71</Paragraphs>
  <Company>CCC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2010-04-09T07:36:15Z</dcterms:created>
  <dc:creator>ABC</dc:creator>
  <dc:description/>
  <dc:language>en-GB</dc:language>
  <cp:lastModifiedBy/>
  <dcterms:modified xsi:type="dcterms:W3CDTF">2026-05-17T22:55:50Z</dcterms:modified>
  <cp:revision>2302</cp:revision>
  <dc:subject/>
  <dc:title>Slide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0x010100096F1BF43DDE004485E7A868D137D60A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1</vt:i4>
  </property>
  <property fmtid="{D5CDD505-2E9C-101B-9397-08002B2CF9AE}" pid="8" name="PresentationFormat">
    <vt:lpwstr>On-screen Show 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14</vt:i4>
  </property>
</Properties>
</file>